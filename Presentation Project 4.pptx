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70" r:id="rId9"/>
    <p:sldId id="271" r:id="rId10"/>
    <p:sldId id="275" r:id="rId11"/>
    <p:sldId id="277" r:id="rId12"/>
    <p:sldId id="278" r:id="rId13"/>
    <p:sldId id="265" r:id="rId14"/>
    <p:sldId id="266" r:id="rId15"/>
    <p:sldId id="267" r:id="rId16"/>
    <p:sldId id="274" r:id="rId17"/>
    <p:sldId id="272" r:id="rId18"/>
    <p:sldId id="273" r:id="rId19"/>
    <p:sldId id="276" r:id="rId20"/>
    <p:sldId id="261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2BA"/>
    <a:srgbClr val="543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DB38-7DE1-C7AA-2FF4-87E37C25A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5F915-65CA-B51C-67B0-7B1334B33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91A5-9413-8069-5C09-FD03397A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A823-4FA4-2DDB-A155-E5E9A4F0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E939-4507-3731-EF9F-F40C9B77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B9AE-79B4-0472-1BF1-1E4E674D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0D5C0-6E02-64AF-99EE-366270F32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D4CA-02C5-54E7-F255-A743DEA7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AFCB-4369-F77F-F955-3C62B1A2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A18E-73CF-3E9B-ABCE-D33CF863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2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AA81-BB90-7254-AB2F-2822A331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C37EC-36B5-8AFC-6BE4-84A1DBED7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BD95B-6B4D-2EDF-FE11-3AA20499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21E5F-451A-B9A7-689E-6E94FC7B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2CFE-77D1-5B27-C541-B209B1C0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3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2F76-3330-5757-77DC-82B43220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5848-6162-5DBB-CC70-C9E51FA3C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710BA-E634-FB54-CA27-1F4369DA4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A58C0-3D3C-E854-E96C-2C7859E2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C44D9-2241-91C6-A79D-39114409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86654-DDC2-CDDB-4B50-FAADCA3B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DFB7-9A2C-BBE5-D7D8-52D979C9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751E-1FE0-DE9D-C0AD-A7DE41B99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F0DE3-41F6-A796-A0B9-BF04338BC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BC733-9CB6-02CE-6CDE-A4F4E3794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1DF6-5CD2-F969-66EA-D189F54B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F3EB1-DA2B-1B02-E4C0-A82234EC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7BBA2-113B-8EEF-049F-10F087AF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BD7DD-FBBA-AE3B-147D-3B7962A9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1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BD00-C790-5A0B-839B-E4AC59FA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CFE18-046C-1759-F41D-337D0A9A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FBD2E-00BA-0DBE-BBA3-FE749BE6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84F38-A9A7-B453-A971-3992E80C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808DD-1717-6001-4F9E-B34FEDFD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4EBB8-A6E1-7B70-7D9D-E9CE300C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9F197-14F3-E3F0-3F6C-1691E4CF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6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1FDA-D358-B8C1-1F7D-F373BDBA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28B3-218F-C629-22B9-797702D4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0C8CC-0CF4-1E4F-0762-DAAAE05B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BAEC2-CD9B-404C-A222-474757EA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7F38C-3627-E113-0720-9A2105EE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A3E88-5CFD-82A0-4C3F-82421824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1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62DD-FB55-985D-C084-02E35C27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44B39-E8C5-D66F-2278-1FA715D2C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F78F8-B932-DECE-E185-494691CAA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BB793-1174-982B-C834-6E23E782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B83CB-4C2C-8643-A599-944295F1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97B83-6E26-BC8A-5145-EEA15DA3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767E-F2B1-EEF2-5A14-9644C271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07BF0-B9C5-179A-C17C-65629EA4E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B96C-59C9-A389-2F63-388CF0A5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D92C-F0CA-76E8-F067-14F74190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0417-A260-0EFC-7AE7-DFC45372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5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29194-A24E-13B0-0E9B-3B49C4733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76D2A-32CE-4F40-126F-218B46776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3EC1-81D5-4A61-50D4-3330EF4A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84CD9-14B5-1F76-577E-17C8EB58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811A5-AD2F-85DD-7976-FEC09B81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5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B4E5E-5799-8D1B-AE2D-E961F60A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DF656-926C-B562-1949-E42478C9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7EC1E-AD86-0B13-E74F-12FEA28E5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7A06-88CF-6410-98EF-964511CF6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4C7A-53DB-E71F-FB2D-17DC5CA5B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6.png"/><Relationship Id="rId1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50.png"/><Relationship Id="rId17" Type="http://schemas.openxmlformats.org/officeDocument/2006/relationships/slide" Target="slide21.xml"/><Relationship Id="rId2" Type="http://schemas.openxmlformats.org/officeDocument/2006/relationships/image" Target="../media/image1.jpe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14" Type="http://schemas.openxmlformats.org/officeDocument/2006/relationships/slide" Target="slide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5.xml"/><Relationship Id="rId7" Type="http://schemas.openxmlformats.org/officeDocument/2006/relationships/image" Target="../media/image120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30.png"/><Relationship Id="rId4" Type="http://schemas.openxmlformats.org/officeDocument/2006/relationships/image" Target="../media/image11.png"/><Relationship Id="rId9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slide" Target="slide10.xml"/><Relationship Id="rId5" Type="http://schemas.openxmlformats.org/officeDocument/2006/relationships/slide" Target="slide8.xml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7.png"/><Relationship Id="rId7" Type="http://schemas.openxmlformats.org/officeDocument/2006/relationships/slide" Target="slide17.xml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9.png"/><Relationship Id="rId5" Type="http://schemas.openxmlformats.org/officeDocument/2006/relationships/image" Target="../media/image27.png"/><Relationship Id="rId10" Type="http://schemas.openxmlformats.org/officeDocument/2006/relationships/slide" Target="slide18.xml"/><Relationship Id="rId4" Type="http://schemas.openxmlformats.org/officeDocument/2006/relationships/slide" Target="slide16.xml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53D704AA-B822-3950-6585-6DC861C8058A}"/>
              </a:ext>
            </a:extLst>
          </p:cNvPr>
          <p:cNvGrpSpPr/>
          <p:nvPr/>
        </p:nvGrpSpPr>
        <p:grpSpPr>
          <a:xfrm>
            <a:off x="4446726" y="3294626"/>
            <a:ext cx="1261560" cy="1261560"/>
            <a:chOff x="0" y="0"/>
            <a:chExt cx="812800" cy="81280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6DDF0D9-D654-10D6-E07D-A577CC4D3F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EAE0F19-158A-8659-40BA-16FCC842C8F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CAEF4AA-8E9E-ECB3-7F64-57D9FA7ED794}"/>
              </a:ext>
            </a:extLst>
          </p:cNvPr>
          <p:cNvSpPr txBox="1"/>
          <p:nvPr/>
        </p:nvSpPr>
        <p:spPr>
          <a:xfrm>
            <a:off x="324464" y="3610070"/>
            <a:ext cx="6636774" cy="6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spcBef>
                <a:spcPct val="0"/>
              </a:spcBef>
              <a:defRPr sz="2400" spc="-273">
                <a:solidFill>
                  <a:srgbClr val="A6A6A6"/>
                </a:solidFill>
                <a:latin typeface="Telegraf"/>
                <a:ea typeface="Telegraf"/>
                <a:cs typeface="Telegraf"/>
              </a:defRPr>
            </a:lvl1pPr>
          </a:lstStyle>
          <a:p>
            <a:r>
              <a:rPr lang="en-US" sz="3600" b="1" dirty="0">
                <a:solidFill>
                  <a:schemeClr val="tx1"/>
                </a:solidFill>
              </a:rPr>
              <a:t>AI-Powered Job Market Insights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3343244-364F-610A-0FF1-66D50601BC3B}"/>
              </a:ext>
            </a:extLst>
          </p:cNvPr>
          <p:cNvGrpSpPr/>
          <p:nvPr/>
        </p:nvGrpSpPr>
        <p:grpSpPr>
          <a:xfrm>
            <a:off x="6300797" y="1742423"/>
            <a:ext cx="4062404" cy="3672412"/>
            <a:chOff x="0" y="0"/>
            <a:chExt cx="6350000" cy="57404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EA47B24-B495-10D8-64F9-F38A6F1A5617}"/>
                </a:ext>
              </a:extLst>
            </p:cNvPr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t="-22114" r="-653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317309-4D23-EADD-2A96-B35A576F125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1AE23E5-AB0D-64B9-6ABE-6A2D2C3E258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658D14-2D2B-5C17-9892-F9343317AF71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C312BCF1-DBAF-2791-1B19-C8C3230C241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E40D8A38-8048-C3A6-9EC0-CE2E278CE17C}"/>
              </a:ext>
            </a:extLst>
          </p:cNvPr>
          <p:cNvSpPr txBox="1"/>
          <p:nvPr/>
        </p:nvSpPr>
        <p:spPr>
          <a:xfrm>
            <a:off x="339505" y="4350860"/>
            <a:ext cx="4646217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Done by: 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Reham 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Sogoud</a:t>
            </a:r>
            <a:b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</a:b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Moataz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Sara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Youssef</a:t>
            </a:r>
            <a:endParaRPr lang="en-US" sz="2400" spc="-273" dirty="0">
              <a:solidFill>
                <a:srgbClr val="A6A6A6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2512420-543A-E7FF-5AD0-34D23626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B7393E01-B90A-B714-7C8D-8D80017E78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881755"/>
                  </p:ext>
                </p:extLst>
              </p:nvPr>
            </p:nvGraphicFramePr>
            <p:xfrm>
              <a:off x="5911960" y="4212818"/>
              <a:ext cx="883828" cy="497154"/>
            </p:xfrm>
            <a:graphic>
              <a:graphicData uri="http://schemas.microsoft.com/office/powerpoint/2016/slidezoom">
                <pslz:sldZm>
                  <pslz:sldZmObj sldId="258" cId="2327051821">
                    <pslz:zmPr id="{4200186E-8969-44E9-83FC-B4E090ACB3DE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7393E01-B90A-B714-7C8D-8D80017E78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1960" y="4212818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9EFD6076-5819-060A-B2F6-D77042A1EC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420605"/>
                  </p:ext>
                </p:extLst>
              </p:nvPr>
            </p:nvGraphicFramePr>
            <p:xfrm>
              <a:off x="5266372" y="2091975"/>
              <a:ext cx="883828" cy="497154"/>
            </p:xfrm>
            <a:graphic>
              <a:graphicData uri="http://schemas.microsoft.com/office/powerpoint/2016/slidezoom">
                <pslz:sldZm>
                  <pslz:sldZmObj sldId="259" cId="628024314">
                    <pslz:zmPr id="{8D2EFBC0-2FFF-49D2-AB6E-C2B6EA8335E8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EFD6076-5819-060A-B2F6-D77042A1EC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6372" y="2091975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C1D26CAB-10B3-C002-FBEF-B1B7803168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9560196"/>
                  </p:ext>
                </p:extLst>
              </p:nvPr>
            </p:nvGraphicFramePr>
            <p:xfrm>
              <a:off x="10514610" y="1989088"/>
              <a:ext cx="883828" cy="497154"/>
            </p:xfrm>
            <a:graphic>
              <a:graphicData uri="http://schemas.microsoft.com/office/powerpoint/2016/slidezoom">
                <pslz:sldZm>
                  <pslz:sldZmObj sldId="260" cId="2981935833">
                    <pslz:zmPr id="{689FB507-AD87-4108-8CB1-B49049D5A8FA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1D26CAB-10B3-C002-FBEF-B1B7803168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14610" y="1989088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2" name="Slide Zoom 31">
                <a:extLst>
                  <a:ext uri="{FF2B5EF4-FFF2-40B4-BE49-F238E27FC236}">
                    <a16:creationId xmlns:a16="http://schemas.microsoft.com/office/drawing/2014/main" id="{9005E861-5312-3A61-A722-2F07A28453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6770944"/>
                  </p:ext>
                </p:extLst>
              </p:nvPr>
            </p:nvGraphicFramePr>
            <p:xfrm>
              <a:off x="10364013" y="4231245"/>
              <a:ext cx="883828" cy="497154"/>
            </p:xfrm>
            <a:graphic>
              <a:graphicData uri="http://schemas.microsoft.com/office/powerpoint/2016/slidezoom">
                <pslz:sldZm>
                  <pslz:sldZmObj sldId="261" cId="942547125">
                    <pslz:zmPr id="{29823893-E060-42CE-98D2-5ED5A46EA08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2" name="Slide Zoom 31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9005E861-5312-3A61-A722-2F07A28453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64013" y="4231245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4" name="Slide Zoom 33">
                <a:extLst>
                  <a:ext uri="{FF2B5EF4-FFF2-40B4-BE49-F238E27FC236}">
                    <a16:creationId xmlns:a16="http://schemas.microsoft.com/office/drawing/2014/main" id="{A85C53D2-010C-CD7D-974F-7CFF20D100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2978269"/>
                  </p:ext>
                </p:extLst>
              </p:nvPr>
            </p:nvGraphicFramePr>
            <p:xfrm>
              <a:off x="8587730" y="5720993"/>
              <a:ext cx="883828" cy="497154"/>
            </p:xfrm>
            <a:graphic>
              <a:graphicData uri="http://schemas.microsoft.com/office/powerpoint/2016/slidezoom">
                <pslz:sldZm>
                  <pslz:sldZmObj sldId="269" cId="1797936623">
                    <pslz:zmPr id="{1EF717B8-8D07-47A4-BD16-604CC7920E11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4" name="Slide Zoom 33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85C53D2-010C-CD7D-974F-7CFF20D100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87730" y="5720993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36" name="Picture 3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D6106C4-3F37-763F-30ED-B8AA064AE5E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949440-3570-2D9E-D7FB-07145833E8F1}"/>
              </a:ext>
            </a:extLst>
          </p:cNvPr>
          <p:cNvSpPr txBox="1"/>
          <p:nvPr/>
        </p:nvSpPr>
        <p:spPr>
          <a:xfrm>
            <a:off x="2080721" y="6305562"/>
            <a:ext cx="6371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spc="-273" dirty="0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Supervised by:   DR.  Amal     Mahmoud</a:t>
            </a:r>
          </a:p>
        </p:txBody>
      </p:sp>
    </p:spTree>
    <p:extLst>
      <p:ext uri="{BB962C8B-B14F-4D97-AF65-F5344CB8AC3E}">
        <p14:creationId xmlns:p14="http://schemas.microsoft.com/office/powerpoint/2010/main" val="22420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AF9E-B8A6-0F79-28C2-E5E9FCDA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ED4E4D-6D8C-F4FD-BC99-B04855BA2C27}"/>
              </a:ext>
            </a:extLst>
          </p:cNvPr>
          <p:cNvSpPr txBox="1"/>
          <p:nvPr/>
        </p:nvSpPr>
        <p:spPr>
          <a:xfrm>
            <a:off x="3500815" y="1372049"/>
            <a:ext cx="519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INTRODUCTION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F6491C-06F5-B462-3853-C4880F88C16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0DDABE4-5C7B-ABA2-2C6E-5584E5AA47B8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0FEE79-4523-DCCA-BBFC-907CF9097233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B088726E-094E-BB79-0CE0-39BF4F5A5995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FAE688A-5024-3495-E42D-2BDE50E6804E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C69E7A11-651A-771E-0EFB-1A98AA58EA9C}"/>
              </a:ext>
            </a:extLst>
          </p:cNvPr>
          <p:cNvGrpSpPr/>
          <p:nvPr/>
        </p:nvGrpSpPr>
        <p:grpSpPr>
          <a:xfrm>
            <a:off x="834901" y="1929508"/>
            <a:ext cx="3099198" cy="4366296"/>
            <a:chOff x="0" y="0"/>
            <a:chExt cx="4507230" cy="635000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B0B1E20E-BE99-F43E-61D2-D31641D4298F}"/>
                </a:ext>
              </a:extLst>
            </p:cNvPr>
            <p:cNvSpPr/>
            <p:nvPr/>
          </p:nvSpPr>
          <p:spPr>
            <a:xfrm flipH="1">
              <a:off x="0" y="0"/>
              <a:ext cx="4505960" cy="6350000"/>
            </a:xfrm>
            <a:custGeom>
              <a:avLst/>
              <a:gdLst/>
              <a:ahLst/>
              <a:cxnLst/>
              <a:rect l="l" t="t" r="r" b="b"/>
              <a:pathLst>
                <a:path w="4505960" h="6350000">
                  <a:moveTo>
                    <a:pt x="4505960" y="561340"/>
                  </a:moveTo>
                  <a:lnTo>
                    <a:pt x="4505960" y="3961130"/>
                  </a:lnTo>
                  <a:cubicBezTo>
                    <a:pt x="4505960" y="4272280"/>
                    <a:pt x="4253230" y="4523740"/>
                    <a:pt x="3943350" y="4522470"/>
                  </a:cubicBezTo>
                  <a:cubicBezTo>
                    <a:pt x="3632200" y="4521200"/>
                    <a:pt x="3379470" y="4773930"/>
                    <a:pt x="3380740" y="5085080"/>
                  </a:cubicBezTo>
                  <a:lnTo>
                    <a:pt x="3382010" y="5787390"/>
                  </a:lnTo>
                  <a:cubicBezTo>
                    <a:pt x="3382010" y="6098540"/>
                    <a:pt x="3130550" y="6350000"/>
                    <a:pt x="2820670" y="6350000"/>
                  </a:cubicBezTo>
                  <a:lnTo>
                    <a:pt x="561340" y="6350000"/>
                  </a:lnTo>
                  <a:cubicBezTo>
                    <a:pt x="251460" y="6350000"/>
                    <a:pt x="0" y="6098540"/>
                    <a:pt x="0" y="5788660"/>
                  </a:cubicBezTo>
                  <a:lnTo>
                    <a:pt x="0" y="2679700"/>
                  </a:lnTo>
                  <a:cubicBezTo>
                    <a:pt x="0" y="2494280"/>
                    <a:pt x="91440" y="2321560"/>
                    <a:pt x="243840" y="2217420"/>
                  </a:cubicBezTo>
                  <a:lnTo>
                    <a:pt x="3321050" y="99060"/>
                  </a:lnTo>
                  <a:cubicBezTo>
                    <a:pt x="3415030" y="34290"/>
                    <a:pt x="3525520" y="0"/>
                    <a:pt x="3639820" y="0"/>
                  </a:cubicBezTo>
                  <a:lnTo>
                    <a:pt x="3944620" y="0"/>
                  </a:lnTo>
                  <a:cubicBezTo>
                    <a:pt x="4254500" y="0"/>
                    <a:pt x="4505960" y="251460"/>
                    <a:pt x="4505960" y="561340"/>
                  </a:cubicBezTo>
                  <a:close/>
                </a:path>
              </a:pathLst>
            </a:custGeom>
            <a:blipFill>
              <a:blip r:embed="rId2"/>
              <a:stretch>
                <a:fillRect t="-3253" b="-32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D35613-A649-CD2E-EE48-9783E33C8AB4}"/>
              </a:ext>
            </a:extLst>
          </p:cNvPr>
          <p:cNvSpPr txBox="1"/>
          <p:nvPr/>
        </p:nvSpPr>
        <p:spPr>
          <a:xfrm>
            <a:off x="5120641" y="3429000"/>
            <a:ext cx="50509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project analyzes the impact of Artificial </a:t>
            </a:r>
            <a:r>
              <a:rPr lang="en-US" dirty="0" err="1"/>
              <a:t>Intelligenceon</a:t>
            </a:r>
            <a:r>
              <a:rPr lang="en-US" dirty="0"/>
              <a:t> the labor market using a simulated dataset of more than 500 job listings. It highlights automation risks, future growth trends, and emerging skill demands across industries. 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DF52-F29A-C9E4-152B-77AD04BD274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45A48C9-804F-EC35-9BAC-0589D0883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5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3240-7719-A14D-4B88-ED38860F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576868-D4BC-510F-1286-83D11C5F97BB}"/>
              </a:ext>
            </a:extLst>
          </p:cNvPr>
          <p:cNvSpPr txBox="1"/>
          <p:nvPr/>
        </p:nvSpPr>
        <p:spPr>
          <a:xfrm>
            <a:off x="4071242" y="1372049"/>
            <a:ext cx="4049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OBJECTIVES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6E4786-C5A6-AA0F-7FE7-9A9E7F8DD021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9529414-8F59-508A-15DF-6D71CF526271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BEF77B-FD5F-EA7D-F9C3-2B1974275D73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967D5122-ACE7-E5EB-DA8C-64057D908FE5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904B7541-59A7-4348-C930-E786323D2149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424DBB-A687-7055-CAF0-F1338FA69B79}"/>
              </a:ext>
            </a:extLst>
          </p:cNvPr>
          <p:cNvGrpSpPr/>
          <p:nvPr/>
        </p:nvGrpSpPr>
        <p:grpSpPr>
          <a:xfrm>
            <a:off x="784835" y="2442482"/>
            <a:ext cx="4442283" cy="903956"/>
            <a:chOff x="836857" y="2464993"/>
            <a:chExt cx="4442283" cy="903956"/>
          </a:xfrm>
        </p:grpSpPr>
        <p:grpSp>
          <p:nvGrpSpPr>
            <p:cNvPr id="27" name="Group 13">
              <a:extLst>
                <a:ext uri="{FF2B5EF4-FFF2-40B4-BE49-F238E27FC236}">
                  <a16:creationId xmlns:a16="http://schemas.microsoft.com/office/drawing/2014/main" id="{976DEEEE-F628-C0F2-A86A-153675D3830C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4F90F314-242E-2261-4304-2870BC10BB4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15">
                <a:extLst>
                  <a:ext uri="{FF2B5EF4-FFF2-40B4-BE49-F238E27FC236}">
                    <a16:creationId xmlns:a16="http://schemas.microsoft.com/office/drawing/2014/main" id="{74A78D3D-0B5D-0EC6-1F25-5240ED0680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6994BF7D-6D4D-2B88-7989-9E01A5C9CFAA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Explore employment trends influenced by AI.</a:t>
              </a:r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9ED50487-27EC-263B-258C-75D3817CB835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TRENDS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B563DA-A9D2-7968-CCBB-DABA7FC79C33}"/>
              </a:ext>
            </a:extLst>
          </p:cNvPr>
          <p:cNvGrpSpPr/>
          <p:nvPr/>
        </p:nvGrpSpPr>
        <p:grpSpPr>
          <a:xfrm>
            <a:off x="781342" y="3550090"/>
            <a:ext cx="4442283" cy="903956"/>
            <a:chOff x="836857" y="2464993"/>
            <a:chExt cx="4442283" cy="903956"/>
          </a:xfrm>
        </p:grpSpPr>
        <p:grpSp>
          <p:nvGrpSpPr>
            <p:cNvPr id="35" name="Group 13">
              <a:extLst>
                <a:ext uri="{FF2B5EF4-FFF2-40B4-BE49-F238E27FC236}">
                  <a16:creationId xmlns:a16="http://schemas.microsoft.com/office/drawing/2014/main" id="{6E28BB7B-6C77-8425-DCB4-7DD313683F77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id="{0D5293B6-296F-0DC2-B7AA-CEF4E08F9ADF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15">
                <a:extLst>
                  <a:ext uri="{FF2B5EF4-FFF2-40B4-BE49-F238E27FC236}">
                    <a16:creationId xmlns:a16="http://schemas.microsoft.com/office/drawing/2014/main" id="{759D63EB-8C3E-C11C-A109-0D8926B2E4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7E7BE20F-66AC-0D33-A6EE-EDCF7A67E778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 vulnerable job categories at risk of automation.</a:t>
              </a:r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1E5B5DA1-C148-0F79-655F-9059A9A6559B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JOBS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4FAC338-AA6A-50C4-2F8A-7271B5E3A07D}"/>
              </a:ext>
            </a:extLst>
          </p:cNvPr>
          <p:cNvGrpSpPr/>
          <p:nvPr/>
        </p:nvGrpSpPr>
        <p:grpSpPr>
          <a:xfrm>
            <a:off x="784835" y="5653526"/>
            <a:ext cx="4442283" cy="903956"/>
            <a:chOff x="836857" y="2464993"/>
            <a:chExt cx="4442283" cy="903956"/>
          </a:xfrm>
        </p:grpSpPr>
        <p:grpSp>
          <p:nvGrpSpPr>
            <p:cNvPr id="41" name="Group 13">
              <a:extLst>
                <a:ext uri="{FF2B5EF4-FFF2-40B4-BE49-F238E27FC236}">
                  <a16:creationId xmlns:a16="http://schemas.microsoft.com/office/drawing/2014/main" id="{3E0A8723-6327-2252-0E37-08D0B5A26D73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44" name="Freeform 14">
                <a:extLst>
                  <a:ext uri="{FF2B5EF4-FFF2-40B4-BE49-F238E27FC236}">
                    <a16:creationId xmlns:a16="http://schemas.microsoft.com/office/drawing/2014/main" id="{C413D911-4671-2AD1-6FA0-E9B64ED7B3E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15">
                <a:extLst>
                  <a:ext uri="{FF2B5EF4-FFF2-40B4-BE49-F238E27FC236}">
                    <a16:creationId xmlns:a16="http://schemas.microsoft.com/office/drawing/2014/main" id="{0A53CDE6-7766-ECBB-A18E-4C224F23C4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589BCEF9-BD1D-FBA0-50CF-D73508F76C88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Highlight emerging skills needed in the workforce.</a:t>
              </a:r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72388869-3085-4BAB-E913-AE34A2D989C4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SKILLS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6BCD3D-10EB-8A05-255E-951F6312049A}"/>
              </a:ext>
            </a:extLst>
          </p:cNvPr>
          <p:cNvGrpSpPr/>
          <p:nvPr/>
        </p:nvGrpSpPr>
        <p:grpSpPr>
          <a:xfrm>
            <a:off x="781342" y="4594232"/>
            <a:ext cx="4438790" cy="903956"/>
            <a:chOff x="836857" y="2464993"/>
            <a:chExt cx="4438790" cy="903956"/>
          </a:xfrm>
        </p:grpSpPr>
        <p:grpSp>
          <p:nvGrpSpPr>
            <p:cNvPr id="47" name="Group 13">
              <a:extLst>
                <a:ext uri="{FF2B5EF4-FFF2-40B4-BE49-F238E27FC236}">
                  <a16:creationId xmlns:a16="http://schemas.microsoft.com/office/drawing/2014/main" id="{90E81782-809D-FCD2-54A9-07CD87039133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50" name="Freeform 14">
                <a:extLst>
                  <a:ext uri="{FF2B5EF4-FFF2-40B4-BE49-F238E27FC236}">
                    <a16:creationId xmlns:a16="http://schemas.microsoft.com/office/drawing/2014/main" id="{255A70FA-6D69-C289-B915-9872D3378CAA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15">
                <a:extLst>
                  <a:ext uri="{FF2B5EF4-FFF2-40B4-BE49-F238E27FC236}">
                    <a16:creationId xmlns:a16="http://schemas.microsoft.com/office/drawing/2014/main" id="{9D052ACB-604C-A219-3304-2F4F0AC9E2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C97F78C3-0F7F-C580-946C-47426A1EA390}"/>
                </a:ext>
              </a:extLst>
            </p:cNvPr>
            <p:cNvSpPr txBox="1"/>
            <p:nvPr/>
          </p:nvSpPr>
          <p:spPr>
            <a:xfrm>
              <a:off x="1028700" y="2909369"/>
              <a:ext cx="333951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 insights for policymakers, companies, and professionals. </a:t>
              </a:r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E9D5223C-1985-5AEF-F549-B8D81C72E0B0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INSIGHTS</a:t>
              </a:r>
            </a:p>
          </p:txBody>
        </p:sp>
      </p:grpSp>
      <p:grpSp>
        <p:nvGrpSpPr>
          <p:cNvPr id="54" name="Group 11">
            <a:extLst>
              <a:ext uri="{FF2B5EF4-FFF2-40B4-BE49-F238E27FC236}">
                <a16:creationId xmlns:a16="http://schemas.microsoft.com/office/drawing/2014/main" id="{F5093A4C-D3CA-6AF3-4038-4A67018F4820}"/>
              </a:ext>
            </a:extLst>
          </p:cNvPr>
          <p:cNvGrpSpPr/>
          <p:nvPr/>
        </p:nvGrpSpPr>
        <p:grpSpPr>
          <a:xfrm flipH="1">
            <a:off x="5712132" y="2379016"/>
            <a:ext cx="7301082" cy="3288280"/>
            <a:chOff x="0" y="0"/>
            <a:chExt cx="8459470" cy="3810000"/>
          </a:xfrm>
        </p:grpSpPr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BF066A79-ABB5-0457-9FA3-2A86652D1420}"/>
                </a:ext>
              </a:extLst>
            </p:cNvPr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2"/>
              <a:stretch>
                <a:fillRect t="-46451" b="-15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06BFFC-D1A8-EA66-97E9-82709C2EC0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4" name="Picture 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53EC6D8-0F55-C656-2BFD-1B3826154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2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95AD-90E9-95A4-1A86-D18E2136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B04F7C-25E5-5895-EF4A-D0BC89182DCB}"/>
              </a:ext>
            </a:extLst>
          </p:cNvPr>
          <p:cNvSpPr txBox="1"/>
          <p:nvPr/>
        </p:nvSpPr>
        <p:spPr>
          <a:xfrm>
            <a:off x="3459472" y="1372049"/>
            <a:ext cx="5273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METHODOLOGY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4B7A2E-FEB4-2892-1C01-41517C1DAB43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6713668-85D6-E2C7-1C8A-E7746B5312E7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D4343F-A7EB-FCD4-90A4-B6F0713E011E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851EF2-4AD7-051F-CFE8-8F6F8C843C9B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C285E6BA-CA07-5949-83D1-A84D72E04D68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676D23CF-23E9-52E1-34A9-B1C41A74F91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2269353"/>
                  </p:ext>
                </p:extLst>
              </p:nvPr>
            </p:nvGraphicFramePr>
            <p:xfrm>
              <a:off x="858838" y="2481988"/>
              <a:ext cx="1958104" cy="1101434"/>
            </p:xfrm>
            <a:graphic>
              <a:graphicData uri="http://schemas.microsoft.com/office/powerpoint/2016/slidezoom">
                <pslz:sldZm>
                  <pslz:sldZmObj sldId="262" cId="4200824034">
                    <pslz:zmPr id="{CD473C88-2206-4CED-A33F-02001E302EE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76D23CF-23E9-52E1-34A9-B1C41A74F9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838" y="2481988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695BF200-2015-69DD-3921-B596161CA5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6264916"/>
                  </p:ext>
                </p:extLst>
              </p:nvPr>
            </p:nvGraphicFramePr>
            <p:xfrm>
              <a:off x="858838" y="3914141"/>
              <a:ext cx="1958104" cy="1101434"/>
            </p:xfrm>
            <a:graphic>
              <a:graphicData uri="http://schemas.microsoft.com/office/powerpoint/2016/slidezoom">
                <pslz:sldZm>
                  <pslz:sldZmObj sldId="264" cId="871821145">
                    <pslz:zmPr id="{8457964F-68C9-408D-AF12-7E4A0405E66B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95BF200-2015-69DD-3921-B596161CA5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838" y="3914141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B698553C-2D4F-87F8-C531-7B6824B22B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284530"/>
                  </p:ext>
                </p:extLst>
              </p:nvPr>
            </p:nvGraphicFramePr>
            <p:xfrm>
              <a:off x="858838" y="5346294"/>
              <a:ext cx="1958104" cy="1101434"/>
            </p:xfrm>
            <a:graphic>
              <a:graphicData uri="http://schemas.microsoft.com/office/powerpoint/2016/slidezoom">
                <pslz:sldZm>
                  <pslz:sldZmObj sldId="265" cId="3741668589">
                    <pslz:zmPr id="{68148FE0-FBB7-46C3-9535-6F385584F726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698553C-2D4F-87F8-C531-7B6824B22B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8838" y="5346294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9DC3196-D784-924D-2386-748F427ABED8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CB92EC-AB9D-69DA-7D55-B186D6454410}"/>
              </a:ext>
            </a:extLst>
          </p:cNvPr>
          <p:cNvGrpSpPr/>
          <p:nvPr/>
        </p:nvGrpSpPr>
        <p:grpSpPr>
          <a:xfrm>
            <a:off x="3233068" y="2461578"/>
            <a:ext cx="4442283" cy="967422"/>
            <a:chOff x="836857" y="2401527"/>
            <a:chExt cx="4442283" cy="967422"/>
          </a:xfrm>
        </p:grpSpPr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D0E4FDEA-47D3-1B16-4561-72C4D01371A8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78F7EBE4-35DE-792B-CE62-A7BFC6AB5BF7}"/>
                </a:ext>
              </a:extLst>
            </p:cNvPr>
            <p:cNvSpPr txBox="1"/>
            <p:nvPr/>
          </p:nvSpPr>
          <p:spPr>
            <a:xfrm>
              <a:off x="1028700" y="2818658"/>
              <a:ext cx="4250440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About Dataset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Dataset Description</a:t>
              </a:r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9C30092-8145-4C8B-705F-EF4CCAFC0511}"/>
                </a:ext>
              </a:extLst>
            </p:cNvPr>
            <p:cNvSpPr txBox="1"/>
            <p:nvPr/>
          </p:nvSpPr>
          <p:spPr>
            <a:xfrm>
              <a:off x="1025207" y="255540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Dataset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385915-8317-BBED-29DD-CC5C90C9758C}"/>
              </a:ext>
            </a:extLst>
          </p:cNvPr>
          <p:cNvGrpSpPr/>
          <p:nvPr/>
        </p:nvGrpSpPr>
        <p:grpSpPr>
          <a:xfrm>
            <a:off x="3233068" y="3867332"/>
            <a:ext cx="4442283" cy="1039118"/>
            <a:chOff x="836857" y="2329831"/>
            <a:chExt cx="4442283" cy="1039118"/>
          </a:xfrm>
        </p:grpSpPr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4E0C1F46-ABDE-A901-ED67-EB6BDF51A1A3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D19B8AC6-E1CA-7877-9E9C-F50C0B917F25}"/>
                </a:ext>
              </a:extLst>
            </p:cNvPr>
            <p:cNvSpPr txBox="1"/>
            <p:nvPr/>
          </p:nvSpPr>
          <p:spPr>
            <a:xfrm>
              <a:off x="1028700" y="2624294"/>
              <a:ext cx="4250440" cy="7192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Data Preparation.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dirty="0"/>
                <a:t>Data Cleaning &amp; Preprocessing.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dirty="0"/>
                <a:t>Data modeling</a:t>
              </a:r>
              <a:endParaRPr lang="en-US" sz="12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7F59775B-E2AB-74D9-45E5-09B90C336807}"/>
                </a:ext>
              </a:extLst>
            </p:cNvPr>
            <p:cNvSpPr txBox="1"/>
            <p:nvPr/>
          </p:nvSpPr>
          <p:spPr>
            <a:xfrm>
              <a:off x="1021714" y="2329831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Preprocessing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33EA0B-5F3F-C4CC-32BB-33ABC4830352}"/>
              </a:ext>
            </a:extLst>
          </p:cNvPr>
          <p:cNvGrpSpPr/>
          <p:nvPr/>
        </p:nvGrpSpPr>
        <p:grpSpPr>
          <a:xfrm>
            <a:off x="3229575" y="5381567"/>
            <a:ext cx="4442283" cy="967422"/>
            <a:chOff x="836857" y="2401527"/>
            <a:chExt cx="4442283" cy="967422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BEA05F41-78F3-020A-CDB9-2977BEB51CA5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38699B8E-C0E3-4D7C-BBDF-5D89D65D63C3}"/>
                </a:ext>
              </a:extLst>
            </p:cNvPr>
            <p:cNvSpPr txBox="1"/>
            <p:nvPr/>
          </p:nvSpPr>
          <p:spPr>
            <a:xfrm>
              <a:off x="1028700" y="2839031"/>
              <a:ext cx="425044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EDA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Data visualization</a:t>
              </a:r>
              <a:endParaRPr lang="en-US" sz="12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D2FDBDDF-BF5B-26E3-8298-A7C453156F6E}"/>
                </a:ext>
              </a:extLst>
            </p:cNvPr>
            <p:cNvSpPr txBox="1"/>
            <p:nvPr/>
          </p:nvSpPr>
          <p:spPr>
            <a:xfrm>
              <a:off x="1025207" y="2458207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Analysis</a:t>
              </a:r>
            </a:p>
          </p:txBody>
        </p:sp>
      </p:grpSp>
      <p:pic>
        <p:nvPicPr>
          <p:cNvPr id="45" name="Picture 4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AD742C1-7FEA-2C5E-3728-6185A905E8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3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46BF-FAE7-F500-034A-9ED0BA1B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D1779C-61F9-0EEF-B08D-F16B5DBDAFDC}"/>
              </a:ext>
            </a:extLst>
          </p:cNvPr>
          <p:cNvSpPr txBox="1"/>
          <p:nvPr/>
        </p:nvSpPr>
        <p:spPr>
          <a:xfrm>
            <a:off x="4446812" y="1372049"/>
            <a:ext cx="30077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CF4721-2290-1F83-B2BD-0153C7AC7B8C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4FF1F08-61C4-94D5-BA97-86B22EB59F3A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02F396-A41E-EF21-997C-0029AD53613E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603903E-6172-1C3E-CB35-658A85E2B97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BA2B7AE1-2A53-A5AE-1513-B5EDBF3D41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7096275"/>
                  </p:ext>
                </p:extLst>
              </p:nvPr>
            </p:nvGraphicFramePr>
            <p:xfrm>
              <a:off x="5400284" y="2844225"/>
              <a:ext cx="5362152" cy="3016210"/>
            </p:xfrm>
            <a:graphic>
              <a:graphicData uri="http://schemas.microsoft.com/office/powerpoint/2016/slidezoom">
                <pslz:sldZm>
                  <pslz:sldZmObj sldId="263" cId="2969032557">
                    <pslz:zmPr id="{CD33C585-6122-455C-BB4B-C35D175BE07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62152" cy="301621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A2B7AE1-2A53-A5AE-1513-B5EDBF3D41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0284" y="2844225"/>
                <a:ext cx="5362152" cy="301621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30F8B9-2053-AB7E-A1B2-63481C16E2D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C4BB1-9A24-6919-AD0A-BA105179ABBE}"/>
              </a:ext>
            </a:extLst>
          </p:cNvPr>
          <p:cNvSpPr txBox="1"/>
          <p:nvPr/>
        </p:nvSpPr>
        <p:spPr>
          <a:xfrm>
            <a:off x="722671" y="2844225"/>
            <a:ext cx="3856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About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263FC-DA96-74C6-DEB0-1551B27A0429}"/>
              </a:ext>
            </a:extLst>
          </p:cNvPr>
          <p:cNvSpPr txBox="1"/>
          <p:nvPr/>
        </p:nvSpPr>
        <p:spPr>
          <a:xfrm>
            <a:off x="722671" y="3515567"/>
            <a:ext cx="4798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This dataset was extracted from Kaggle.com,</a:t>
            </a:r>
          </a:p>
          <a:p>
            <a:r>
              <a:rPr lang="en-US" sz="1600" dirty="0"/>
              <a:t>Name of dataset is ai_job_trends_dataset.csv</a:t>
            </a:r>
          </a:p>
        </p:txBody>
      </p:sp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8068FC5B-15B1-8CB7-47DF-EF33479A2D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2173876" y="1372049"/>
            <a:ext cx="75535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DESCRIPTION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982506-6EBB-4666-FE80-727091AA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46" r="3750" b="7476"/>
          <a:stretch/>
        </p:blipFill>
        <p:spPr>
          <a:xfrm>
            <a:off x="2337564" y="2984529"/>
            <a:ext cx="9132276" cy="343418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A983E8F-B95F-9541-9F48-8B61225E5628}"/>
              </a:ext>
            </a:extLst>
          </p:cNvPr>
          <p:cNvGrpSpPr/>
          <p:nvPr/>
        </p:nvGrpSpPr>
        <p:grpSpPr>
          <a:xfrm>
            <a:off x="243384" y="2165915"/>
            <a:ext cx="4442283" cy="967422"/>
            <a:chOff x="836857" y="2401527"/>
            <a:chExt cx="4442283" cy="967422"/>
          </a:xfrm>
        </p:grpSpPr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AE01EBC2-FA4A-CF18-79B6-B552656BF14D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400"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4831E15D-9788-607A-A71D-6B7C0A4684BA}"/>
                </a:ext>
              </a:extLst>
            </p:cNvPr>
            <p:cNvSpPr txBox="1"/>
            <p:nvPr/>
          </p:nvSpPr>
          <p:spPr>
            <a:xfrm>
              <a:off x="1028700" y="2818658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endParaRPr lang="en-US" sz="16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19B5BED3-2C78-5596-B977-AF82500DBAA7}"/>
                </a:ext>
              </a:extLst>
            </p:cNvPr>
            <p:cNvSpPr txBox="1"/>
            <p:nvPr/>
          </p:nvSpPr>
          <p:spPr>
            <a:xfrm>
              <a:off x="1025207" y="2555400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6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Total Records: 30k</a:t>
              </a:r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E585D24B-608F-093B-4BD4-79A070BF84AC}"/>
                </a:ext>
              </a:extLst>
            </p:cNvPr>
            <p:cNvSpPr txBox="1"/>
            <p:nvPr/>
          </p:nvSpPr>
          <p:spPr>
            <a:xfrm>
              <a:off x="1025207" y="2858175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ts val="2159"/>
                </a:lnSpc>
                <a:defRPr sz="1200" b="1" i="1" spc="-53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</a:defRPr>
              </a:lvl1pPr>
            </a:lstStyle>
            <a:p>
              <a:r>
                <a:rPr lang="en-US" sz="1600" dirty="0">
                  <a:sym typeface="Helvetica World Bold Italics"/>
                </a:rPr>
                <a:t>Total Columns: 13</a:t>
              </a:r>
            </a:p>
          </p:txBody>
        </p:sp>
      </p:grpSp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C9727B8-440E-2A39-05D8-BDE40A0D1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3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5EFA-552F-B32C-6D21-67942ABA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6F0EA-4DC4-BCB4-15AD-F2425EC3853E}"/>
              </a:ext>
            </a:extLst>
          </p:cNvPr>
          <p:cNvSpPr txBox="1"/>
          <p:nvPr/>
        </p:nvSpPr>
        <p:spPr>
          <a:xfrm>
            <a:off x="1625236" y="1372049"/>
            <a:ext cx="8650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PREPROCESSING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D11DD9-D006-D2A3-E03E-289616549B86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186470E-AA08-E0CF-23CD-2C33079F953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35ED0F-7E9E-8E25-928F-194D4DC4EFBC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C9D00219-CF11-71FA-FDB8-F5BF4AB21717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FC248C5-309F-CE4C-1715-716052825EC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6BB4F902-BADE-7D62-A0CF-01794CF22381}"/>
              </a:ext>
            </a:extLst>
          </p:cNvPr>
          <p:cNvGrpSpPr/>
          <p:nvPr/>
        </p:nvGrpSpPr>
        <p:grpSpPr>
          <a:xfrm>
            <a:off x="935327" y="2589427"/>
            <a:ext cx="1261560" cy="1261560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D46D3A9-A99C-E0A8-00DC-19E1054070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86DC27-C4AB-9E6B-BA1A-4E612B508F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30A362B-09F6-C931-9C5F-7DF52D8E8BB8}"/>
              </a:ext>
            </a:extLst>
          </p:cNvPr>
          <p:cNvSpPr txBox="1"/>
          <p:nvPr/>
        </p:nvSpPr>
        <p:spPr>
          <a:xfrm>
            <a:off x="1260656" y="2772475"/>
            <a:ext cx="466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242798-5592-272D-E56B-FF5BA41B8CE9}"/>
              </a:ext>
            </a:extLst>
          </p:cNvPr>
          <p:cNvGrpSpPr/>
          <p:nvPr/>
        </p:nvGrpSpPr>
        <p:grpSpPr>
          <a:xfrm>
            <a:off x="2183806" y="3931842"/>
            <a:ext cx="1261560" cy="1261560"/>
            <a:chOff x="2558181" y="4065214"/>
            <a:chExt cx="1261560" cy="1261560"/>
          </a:xfrm>
        </p:grpSpPr>
        <p:grpSp>
          <p:nvGrpSpPr>
            <p:cNvPr id="11" name="Group 4">
              <a:extLst>
                <a:ext uri="{FF2B5EF4-FFF2-40B4-BE49-F238E27FC236}">
                  <a16:creationId xmlns:a16="http://schemas.microsoft.com/office/drawing/2014/main" id="{67FF3679-A77F-174A-544A-25F4747833A4}"/>
                </a:ext>
              </a:extLst>
            </p:cNvPr>
            <p:cNvGrpSpPr/>
            <p:nvPr/>
          </p:nvGrpSpPr>
          <p:grpSpPr>
            <a:xfrm>
              <a:off x="2558181" y="4065214"/>
              <a:ext cx="1261560" cy="1261560"/>
              <a:chOff x="0" y="0"/>
              <a:chExt cx="812800" cy="81280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92CAD085-9EA8-DA0B-B35B-7C1F84389E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6A6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756DC3-1270-23E7-E8AE-3BC279ED622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C8BBCC-CE51-6B84-AA1F-532044C6A65E}"/>
                </a:ext>
              </a:extLst>
            </p:cNvPr>
            <p:cNvSpPr txBox="1"/>
            <p:nvPr/>
          </p:nvSpPr>
          <p:spPr>
            <a:xfrm>
              <a:off x="2955825" y="4234329"/>
              <a:ext cx="466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/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1D554B-D079-245F-D091-01DA2120F6F0}"/>
              </a:ext>
            </a:extLst>
          </p:cNvPr>
          <p:cNvGrpSpPr/>
          <p:nvPr/>
        </p:nvGrpSpPr>
        <p:grpSpPr>
          <a:xfrm>
            <a:off x="3445366" y="5274257"/>
            <a:ext cx="1261560" cy="1261560"/>
            <a:chOff x="4664218" y="5326774"/>
            <a:chExt cx="1261560" cy="126156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EAAA0BBE-13C4-E126-15A8-0C505B06DB4F}"/>
                </a:ext>
              </a:extLst>
            </p:cNvPr>
            <p:cNvGrpSpPr/>
            <p:nvPr/>
          </p:nvGrpSpPr>
          <p:grpSpPr>
            <a:xfrm>
              <a:off x="4664218" y="5326774"/>
              <a:ext cx="1261560" cy="1261560"/>
              <a:chOff x="0" y="0"/>
              <a:chExt cx="812800" cy="812800"/>
            </a:xfrm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F673C2BD-3048-EC92-4E00-80DB341E477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6A6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288BF2-C17C-35C1-800C-67AF4700A96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B39049-C290-5995-0A8A-162AE69C75CF}"/>
                </a:ext>
              </a:extLst>
            </p:cNvPr>
            <p:cNvSpPr txBox="1"/>
            <p:nvPr/>
          </p:nvSpPr>
          <p:spPr>
            <a:xfrm>
              <a:off x="5061862" y="5495889"/>
              <a:ext cx="466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/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FD13E9-5B4F-FE81-B298-8AEA0FFC0E5C}"/>
              </a:ext>
            </a:extLst>
          </p:cNvPr>
          <p:cNvGrpSpPr/>
          <p:nvPr/>
        </p:nvGrpSpPr>
        <p:grpSpPr>
          <a:xfrm>
            <a:off x="2581451" y="2532464"/>
            <a:ext cx="3637442" cy="1116772"/>
            <a:chOff x="275648" y="2254767"/>
            <a:chExt cx="4946228" cy="1518594"/>
          </a:xfrm>
        </p:grpSpPr>
        <p:grpSp>
          <p:nvGrpSpPr>
            <p:cNvPr id="25" name="Group 13">
              <a:extLst>
                <a:ext uri="{FF2B5EF4-FFF2-40B4-BE49-F238E27FC236}">
                  <a16:creationId xmlns:a16="http://schemas.microsoft.com/office/drawing/2014/main" id="{5EE11418-1C8F-7099-3261-D936BA6F9E70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13D780BC-7C96-6CE4-A7C8-2E4802446B2B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15">
                <a:extLst>
                  <a:ext uri="{FF2B5EF4-FFF2-40B4-BE49-F238E27FC236}">
                    <a16:creationId xmlns:a16="http://schemas.microsoft.com/office/drawing/2014/main" id="{CB26D8BA-61BA-C0AA-581C-C6FBD7F127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60DD7AA8-13EB-96D1-19A9-203D9866B61F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We Handled Missing Data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41053E-56DF-0B82-5A17-895FB1BBA10E}"/>
              </a:ext>
            </a:extLst>
          </p:cNvPr>
          <p:cNvGrpSpPr/>
          <p:nvPr/>
        </p:nvGrpSpPr>
        <p:grpSpPr>
          <a:xfrm>
            <a:off x="3724739" y="3920400"/>
            <a:ext cx="3637442" cy="1116772"/>
            <a:chOff x="275648" y="2254767"/>
            <a:chExt cx="4946228" cy="1518594"/>
          </a:xfrm>
        </p:grpSpPr>
        <p:grpSp>
          <p:nvGrpSpPr>
            <p:cNvPr id="31" name="Group 13">
              <a:extLst>
                <a:ext uri="{FF2B5EF4-FFF2-40B4-BE49-F238E27FC236}">
                  <a16:creationId xmlns:a16="http://schemas.microsoft.com/office/drawing/2014/main" id="{8516371B-E2E5-7528-5D56-789C8ECF5BB6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BEBE6464-873B-54F7-AE4B-022E655E9BB6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15">
                <a:extLst>
                  <a:ext uri="{FF2B5EF4-FFF2-40B4-BE49-F238E27FC236}">
                    <a16:creationId xmlns:a16="http://schemas.microsoft.com/office/drawing/2014/main" id="{7C3D4808-32EB-28D8-994E-E789CC0B4D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5958A47E-C0AF-4FA3-96FD-606127B31661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Detected Duplicated Values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B0D160-0B19-2F37-730C-CAB7E8181FEB}"/>
              </a:ext>
            </a:extLst>
          </p:cNvPr>
          <p:cNvGrpSpPr/>
          <p:nvPr/>
        </p:nvGrpSpPr>
        <p:grpSpPr>
          <a:xfrm>
            <a:off x="4986299" y="5289281"/>
            <a:ext cx="3637442" cy="1116772"/>
            <a:chOff x="275648" y="2254767"/>
            <a:chExt cx="4946228" cy="1518594"/>
          </a:xfrm>
        </p:grpSpPr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0D912A06-B689-E6E5-E356-6B6BB1619344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EAA984F0-1B67-199F-E3E9-D0FAA263B0D3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15">
                <a:extLst>
                  <a:ext uri="{FF2B5EF4-FFF2-40B4-BE49-F238E27FC236}">
                    <a16:creationId xmlns:a16="http://schemas.microsoft.com/office/drawing/2014/main" id="{EDB8E6F8-F7E9-CC93-064A-8A0426BAE6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5F3FE0C1-C219-9EAC-73E6-77E1EE08C6F5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Type Correction</a:t>
              </a:r>
            </a:p>
          </p:txBody>
        </p:sp>
      </p:grpSp>
      <p:pic>
        <p:nvPicPr>
          <p:cNvPr id="45" name="Picture 4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CA3735E-CDE4-50A8-F9C5-13FCBDE41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7" name="Slide Zoom 46">
                <a:extLst>
                  <a:ext uri="{FF2B5EF4-FFF2-40B4-BE49-F238E27FC236}">
                    <a16:creationId xmlns:a16="http://schemas.microsoft.com/office/drawing/2014/main" id="{F78ED080-6B11-02E8-72AA-3FD6C95AA8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9398133"/>
                  </p:ext>
                </p:extLst>
              </p:nvPr>
            </p:nvGraphicFramePr>
            <p:xfrm>
              <a:off x="9209728" y="2455164"/>
              <a:ext cx="1870276" cy="1052030"/>
            </p:xfrm>
            <a:graphic>
              <a:graphicData uri="http://schemas.microsoft.com/office/powerpoint/2016/slidezoom">
                <pslz:sldZm>
                  <pslz:sldZmObj sldId="270" cId="3237882721">
                    <pslz:zmPr id="{DA17F2C0-7E52-4D37-B03E-2E3F8B8F7806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7" name="Slide Zoom 4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F78ED080-6B11-02E8-72AA-3FD6C95AA8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09728" y="2455164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9" name="Slide Zoom 48">
                <a:extLst>
                  <a:ext uri="{FF2B5EF4-FFF2-40B4-BE49-F238E27FC236}">
                    <a16:creationId xmlns:a16="http://schemas.microsoft.com/office/drawing/2014/main" id="{5951CAB3-858A-D5D1-D573-5869E7E4E2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3751814"/>
                  </p:ext>
                </p:extLst>
              </p:nvPr>
            </p:nvGraphicFramePr>
            <p:xfrm>
              <a:off x="9209728" y="3920400"/>
              <a:ext cx="1870276" cy="1052030"/>
            </p:xfrm>
            <a:graphic>
              <a:graphicData uri="http://schemas.microsoft.com/office/powerpoint/2016/slidezoom">
                <pslz:sldZm>
                  <pslz:sldZmObj sldId="271" cId="2791293488">
                    <pslz:zmPr id="{BE964883-2FBA-4E28-91B2-D6D0390838D0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9" name="Slide Zoom 4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951CAB3-858A-D5D1-D573-5869E7E4E2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9728" y="3920400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1" name="Slide Zoom 50">
                <a:extLst>
                  <a:ext uri="{FF2B5EF4-FFF2-40B4-BE49-F238E27FC236}">
                    <a16:creationId xmlns:a16="http://schemas.microsoft.com/office/drawing/2014/main" id="{2A82EBCE-32A4-48D1-AE39-BF880921FA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3259739"/>
                  </p:ext>
                </p:extLst>
              </p:nvPr>
            </p:nvGraphicFramePr>
            <p:xfrm>
              <a:off x="9209728" y="5282243"/>
              <a:ext cx="1870276" cy="1052030"/>
            </p:xfrm>
            <a:graphic>
              <a:graphicData uri="http://schemas.microsoft.com/office/powerpoint/2016/slidezoom">
                <pslz:sldZm>
                  <pslz:sldZmObj sldId="275" cId="3625315791">
                    <pslz:zmPr id="{B03D0B02-6B61-4CF5-90CC-8A434230996F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1" name="Slide Zoom 50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A82EBCE-32A4-48D1-AE39-BF880921FA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09728" y="5282243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182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2814138" y="1372049"/>
            <a:ext cx="65637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Excel Preprocessing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33ED03-EB4E-8045-7F94-C42FDEA3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4" t="20505" r="-253" b="7276"/>
          <a:stretch/>
        </p:blipFill>
        <p:spPr>
          <a:xfrm>
            <a:off x="1396314" y="2529645"/>
            <a:ext cx="9399371" cy="3956540"/>
          </a:xfrm>
          <a:prstGeom prst="rect">
            <a:avLst/>
          </a:prstGeom>
        </p:spPr>
      </p:pic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C3D7DCDC-C311-AAB9-10F6-ABC914173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8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3221901" y="1291838"/>
            <a:ext cx="5495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Excel Dashboard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01D96-16F4-0328-8B6B-32BE665BE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8" y="2567084"/>
            <a:ext cx="11004884" cy="3579094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9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3602245" y="1260527"/>
            <a:ext cx="47349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 Modeling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2DF0C5-0FF4-84BA-CB38-B77B794B53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26" t="18821" r="23027" b="12731"/>
          <a:stretch/>
        </p:blipFill>
        <p:spPr>
          <a:xfrm>
            <a:off x="3348163" y="2343505"/>
            <a:ext cx="5495673" cy="418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1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1163673" y="1313148"/>
            <a:ext cx="9612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Sample Data Insights (Python)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CF2742-0E98-06B6-DCE5-9390BFA58E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80" t="53981" r="11935" b="11810"/>
          <a:stretch/>
        </p:blipFill>
        <p:spPr>
          <a:xfrm>
            <a:off x="2022723" y="3429000"/>
            <a:ext cx="9202994" cy="23449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3FC380-5B7B-19A8-8D21-E4987A3823AF}"/>
              </a:ext>
            </a:extLst>
          </p:cNvPr>
          <p:cNvSpPr txBox="1"/>
          <p:nvPr/>
        </p:nvSpPr>
        <p:spPr>
          <a:xfrm>
            <a:off x="2816941" y="2571381"/>
            <a:ext cx="7614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Comparison between Jobs (2024 – 2030)</a:t>
            </a:r>
          </a:p>
        </p:txBody>
      </p:sp>
    </p:spTree>
    <p:extLst>
      <p:ext uri="{BB962C8B-B14F-4D97-AF65-F5344CB8AC3E}">
        <p14:creationId xmlns:p14="http://schemas.microsoft.com/office/powerpoint/2010/main" val="164007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1163673" y="1313148"/>
            <a:ext cx="9612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Sample Data Insights (Python)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3FC380-5B7B-19A8-8D21-E4987A3823AF}"/>
              </a:ext>
            </a:extLst>
          </p:cNvPr>
          <p:cNvSpPr txBox="1"/>
          <p:nvPr/>
        </p:nvSpPr>
        <p:spPr>
          <a:xfrm>
            <a:off x="2288721" y="2609703"/>
            <a:ext cx="7614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Highest automation risk in Industry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2F487-4840-0FF7-815A-9D1DCF2AE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85" t="46019" r="11615" b="19133"/>
          <a:stretch/>
        </p:blipFill>
        <p:spPr>
          <a:xfrm>
            <a:off x="2177670" y="3740931"/>
            <a:ext cx="8253829" cy="23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8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34D8-9D41-EF09-5077-24EFAB35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EE30C4-53FE-BC12-0D84-87150B52497F}"/>
              </a:ext>
            </a:extLst>
          </p:cNvPr>
          <p:cNvSpPr txBox="1"/>
          <p:nvPr/>
        </p:nvSpPr>
        <p:spPr>
          <a:xfrm>
            <a:off x="2872207" y="1389466"/>
            <a:ext cx="6195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A26D04-45CC-DD5D-91E7-6DDD66B3B25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D0CC2-4193-AE6F-27FD-B9746024B6F0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F219AA-CBE5-0A0E-F23A-2175D754B4CF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AB291F22-3519-F9D3-4F73-F6390FA9AC4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34" name="Group 27">
            <a:extLst>
              <a:ext uri="{FF2B5EF4-FFF2-40B4-BE49-F238E27FC236}">
                <a16:creationId xmlns:a16="http://schemas.microsoft.com/office/drawing/2014/main" id="{582C594C-9CC1-64CB-5997-CBF0322ECEE6}"/>
              </a:ext>
            </a:extLst>
          </p:cNvPr>
          <p:cNvGrpSpPr/>
          <p:nvPr/>
        </p:nvGrpSpPr>
        <p:grpSpPr>
          <a:xfrm>
            <a:off x="2444848" y="5075948"/>
            <a:ext cx="3524888" cy="1587548"/>
            <a:chOff x="0" y="0"/>
            <a:chExt cx="8459470" cy="3810000"/>
          </a:xfrm>
        </p:grpSpPr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69876DF-75EB-A0FC-84D9-C1A407D3CF11}"/>
                </a:ext>
              </a:extLst>
            </p:cNvPr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2"/>
              <a:stretch>
                <a:fillRect l="-9371" t="-621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FA45BF-C9E4-CD5C-2884-E0AA9403AF3D}"/>
              </a:ext>
            </a:extLst>
          </p:cNvPr>
          <p:cNvGrpSpPr/>
          <p:nvPr/>
        </p:nvGrpSpPr>
        <p:grpSpPr>
          <a:xfrm>
            <a:off x="380775" y="2335886"/>
            <a:ext cx="4431798" cy="1471034"/>
            <a:chOff x="790078" y="2254767"/>
            <a:chExt cx="4431798" cy="1471034"/>
          </a:xfrm>
        </p:grpSpPr>
        <p:grpSp>
          <p:nvGrpSpPr>
            <p:cNvPr id="2" name="Group 13">
              <a:extLst>
                <a:ext uri="{FF2B5EF4-FFF2-40B4-BE49-F238E27FC236}">
                  <a16:creationId xmlns:a16="http://schemas.microsoft.com/office/drawing/2014/main" id="{8037A91B-D2D8-26C8-EC63-2F1BC6039652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" name="Freeform 14">
                <a:extLst>
                  <a:ext uri="{FF2B5EF4-FFF2-40B4-BE49-F238E27FC236}">
                    <a16:creationId xmlns:a16="http://schemas.microsoft.com/office/drawing/2014/main" id="{F0DA89C8-7821-9D77-4874-0462E65527BB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77359934-2964-36AB-F9AB-024DBDCC00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7FC5EAA3-8BC4-4ED6-55D7-6BA3FDD51846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What industries show the highest exposure to the AI?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10101BF0-FA0B-F24F-CEA3-9531EB7953D6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Happened? (Descriptive Analysis)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381A16-6F74-3DDD-D32D-DC9DDF9ECA68}"/>
              </a:ext>
            </a:extLst>
          </p:cNvPr>
          <p:cNvGrpSpPr/>
          <p:nvPr/>
        </p:nvGrpSpPr>
        <p:grpSpPr>
          <a:xfrm>
            <a:off x="1537939" y="3840261"/>
            <a:ext cx="4431798" cy="1471034"/>
            <a:chOff x="790078" y="2254767"/>
            <a:chExt cx="4431798" cy="1471034"/>
          </a:xfrm>
        </p:grpSpPr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C5BD8425-7599-8F47-91DA-CE6CEEA2068E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B8C16EA4-314A-6AC6-1242-031B88E7468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275908EF-0CDF-DAE6-88A2-589F30DB80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564E73-19EF-BC2F-CF08-529B60503F2F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8109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Which features (skills, education level, industry) most strongly predict job displacement or transformation?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67CBC4-BDDE-0033-514A-5E13EDBDD837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Why did it happen? (Diagnostic Analysis)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811B0C-94C5-E847-9AC7-3CF6BD3134BF}"/>
              </a:ext>
            </a:extLst>
          </p:cNvPr>
          <p:cNvGrpSpPr/>
          <p:nvPr/>
        </p:nvGrpSpPr>
        <p:grpSpPr>
          <a:xfrm>
            <a:off x="5163530" y="2324519"/>
            <a:ext cx="4431798" cy="1471034"/>
            <a:chOff x="790078" y="2254767"/>
            <a:chExt cx="4431798" cy="1471034"/>
          </a:xfrm>
        </p:grpSpPr>
        <p:grpSp>
          <p:nvGrpSpPr>
            <p:cNvPr id="22" name="Group 13">
              <a:extLst>
                <a:ext uri="{FF2B5EF4-FFF2-40B4-BE49-F238E27FC236}">
                  <a16:creationId xmlns:a16="http://schemas.microsoft.com/office/drawing/2014/main" id="{4BA61825-3DEF-453F-F0B3-765C2175BD5A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CFDED8FE-2F79-AC8E-1283-FE1964D3EF7C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0C2F8446-E40D-BE35-24A0-B195B829D1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7B2043-91C6-26FB-F503-68EDB9C40A24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If current trends continue which jobs roles are most likely to grow or decline due to AI?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CF8AA4-7639-B635-D626-6476FCC066FA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will happen? (Predictive Analysis)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ADE05A-502F-ED97-A4D5-E0AE9B40DC7E}"/>
              </a:ext>
            </a:extLst>
          </p:cNvPr>
          <p:cNvGrpSpPr/>
          <p:nvPr/>
        </p:nvGrpSpPr>
        <p:grpSpPr>
          <a:xfrm>
            <a:off x="6222265" y="3840261"/>
            <a:ext cx="4431798" cy="1471034"/>
            <a:chOff x="790078" y="2254767"/>
            <a:chExt cx="4431798" cy="1471034"/>
          </a:xfrm>
        </p:grpSpPr>
        <p:grpSp>
          <p:nvGrpSpPr>
            <p:cNvPr id="28" name="Group 13">
              <a:extLst>
                <a:ext uri="{FF2B5EF4-FFF2-40B4-BE49-F238E27FC236}">
                  <a16:creationId xmlns:a16="http://schemas.microsoft.com/office/drawing/2014/main" id="{26A07ADD-E0DD-521C-AD07-C0EA3C401B3F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1" name="Freeform 14">
                <a:extLst>
                  <a:ext uri="{FF2B5EF4-FFF2-40B4-BE49-F238E27FC236}">
                    <a16:creationId xmlns:a16="http://schemas.microsoft.com/office/drawing/2014/main" id="{D74DEE31-7884-C707-F6FA-C64D560124B6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15">
                <a:extLst>
                  <a:ext uri="{FF2B5EF4-FFF2-40B4-BE49-F238E27FC236}">
                    <a16:creationId xmlns:a16="http://schemas.microsoft.com/office/drawing/2014/main" id="{3AD7C3A3-6F3B-5EFF-6115-B8CAD97D67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6EEE84-6A6E-0AFB-1925-C498A103CD0D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What skills should workers learn to remain competitive?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3332B9-A93F-F861-321C-AAD846FFA76E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should we do? (Prescriptive Analysis)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Slide Zoom 32">
                <a:extLst>
                  <a:ext uri="{FF2B5EF4-FFF2-40B4-BE49-F238E27FC236}">
                    <a16:creationId xmlns:a16="http://schemas.microsoft.com/office/drawing/2014/main" id="{BEED874C-7FF8-873B-16F3-4F63B311FF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9158921"/>
                  </p:ext>
                </p:extLst>
              </p:nvPr>
            </p:nvGraphicFramePr>
            <p:xfrm>
              <a:off x="8566961" y="5456238"/>
              <a:ext cx="2056734" cy="1156912"/>
            </p:xfrm>
            <a:graphic>
              <a:graphicData uri="http://schemas.microsoft.com/office/powerpoint/2016/slidezoom">
                <pslz:sldZm>
                  <pslz:sldZmObj sldId="266" cId="3484056230">
                    <pslz:zmPr id="{51B640FE-F0A1-4152-A96C-249492C9BCF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6734" cy="11569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Slide Zoom 3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EED874C-7FF8-873B-16F3-4F63B311FF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66961" y="5456238"/>
                <a:ext cx="2056734" cy="11569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80A5DA2-856F-7523-69DF-6454D8AEC82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36" name="Picture 3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659D7F95-C9B2-8E91-EE3E-953E2D214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6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3B65-39E9-59CC-0650-B696081C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84DB8-0C86-3D5A-42D3-8E0630694A27}"/>
              </a:ext>
            </a:extLst>
          </p:cNvPr>
          <p:cNvSpPr txBox="1"/>
          <p:nvPr/>
        </p:nvSpPr>
        <p:spPr>
          <a:xfrm>
            <a:off x="1663209" y="1381574"/>
            <a:ext cx="88655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EXPLORATORY DATASET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E09145-29A0-A5CF-6D18-3765B7AC04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4728B66-B269-4F54-8C13-309FC6265DF0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ADBEC2-6461-6745-3C09-319B69E5ECBF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2592B389-7200-1CB1-0376-7E41CCFE26D2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7695044F-CF23-F5E3-1ED2-B7450C35CC0A}"/>
              </a:ext>
            </a:extLst>
          </p:cNvPr>
          <p:cNvGrpSpPr/>
          <p:nvPr/>
        </p:nvGrpSpPr>
        <p:grpSpPr>
          <a:xfrm>
            <a:off x="4308889" y="2440247"/>
            <a:ext cx="3706602" cy="3706602"/>
            <a:chOff x="0" y="0"/>
            <a:chExt cx="812800" cy="812800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7F7DCBDF-5DBB-F706-2C49-C17E641F48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55497273-CB07-9F8D-7A39-5C0A0346BB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3F945-6822-9F53-8F51-D6F4F056D257}"/>
              </a:ext>
            </a:extLst>
          </p:cNvPr>
          <p:cNvGrpSpPr/>
          <p:nvPr/>
        </p:nvGrpSpPr>
        <p:grpSpPr>
          <a:xfrm>
            <a:off x="1238442" y="2524468"/>
            <a:ext cx="4431798" cy="1471034"/>
            <a:chOff x="790078" y="2254767"/>
            <a:chExt cx="4431798" cy="1471034"/>
          </a:xfrm>
        </p:grpSpPr>
        <p:grpSp>
          <p:nvGrpSpPr>
            <p:cNvPr id="2" name="Group 13">
              <a:extLst>
                <a:ext uri="{FF2B5EF4-FFF2-40B4-BE49-F238E27FC236}">
                  <a16:creationId xmlns:a16="http://schemas.microsoft.com/office/drawing/2014/main" id="{20761D30-E6C9-2603-4D02-F93840A44CD7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" name="Freeform 14">
                <a:extLst>
                  <a:ext uri="{FF2B5EF4-FFF2-40B4-BE49-F238E27FC236}">
                    <a16:creationId xmlns:a16="http://schemas.microsoft.com/office/drawing/2014/main" id="{E21C7A80-3FB7-66F3-FB65-DB9D14CD6988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BF0A8892-1DFF-5CC0-43DC-362F166DA3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0AF63F2B-82FB-B725-C367-CA939C9E6667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What is the dataset about?</a:t>
              </a:r>
              <a:b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</a:b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Ex: Job roles, automation risks, industries, salaries.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B604FF40-6114-9BEB-B40E-11472448CF08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What?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5AC57B-44BA-1261-A723-F01A859796DA}"/>
              </a:ext>
            </a:extLst>
          </p:cNvPr>
          <p:cNvGrpSpPr/>
          <p:nvPr/>
        </p:nvGrpSpPr>
        <p:grpSpPr>
          <a:xfrm>
            <a:off x="1238442" y="4461179"/>
            <a:ext cx="4431798" cy="1471034"/>
            <a:chOff x="790078" y="2254767"/>
            <a:chExt cx="4431798" cy="1471034"/>
          </a:xfrm>
        </p:grpSpPr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B04FA626-7FDD-81CB-3430-80E4164DFAD2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D32E6A79-BBB6-4537-251B-57583F670F4A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4581140F-078E-0E97-7F5C-40D62BDD40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292401-532B-1ED8-4E70-F6974E585E7B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When was this data collected?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E836CF-46F2-E511-5343-D080D173D8F3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When?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89A25C-2449-A4B4-BF6D-871297C564EB}"/>
              </a:ext>
            </a:extLst>
          </p:cNvPr>
          <p:cNvGrpSpPr/>
          <p:nvPr/>
        </p:nvGrpSpPr>
        <p:grpSpPr>
          <a:xfrm>
            <a:off x="6654139" y="2524468"/>
            <a:ext cx="4431798" cy="1471034"/>
            <a:chOff x="790078" y="2254767"/>
            <a:chExt cx="4431798" cy="1471034"/>
          </a:xfrm>
        </p:grpSpPr>
        <p:grpSp>
          <p:nvGrpSpPr>
            <p:cNvPr id="22" name="Group 13">
              <a:extLst>
                <a:ext uri="{FF2B5EF4-FFF2-40B4-BE49-F238E27FC236}">
                  <a16:creationId xmlns:a16="http://schemas.microsoft.com/office/drawing/2014/main" id="{759C201E-D3AE-203F-E265-CF170F3F604D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83ACB005-7255-49CE-AD10-182F9747B0D0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73E0F94F-7848-7403-80F8-65F71CC908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FC3386-EDA1-7FB3-57FF-403622018B4D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Who does the data represent?</a:t>
              </a:r>
              <a:b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</a:b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Ex: Employees, job categories, industries affected by AI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0B6D4-0327-2928-C5B0-496532D07A13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52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</a:rPr>
                <a:t>Who?</a:t>
              </a:r>
              <a:endParaRPr lang="en-US" sz="1200" b="1" i="1" spc="-53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endParaRPr>
            </a:p>
          </p:txBody>
        </p:sp>
      </p:grpSp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662B43-C2A2-EA13-06BD-D559EDE8A09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Slide Zoom 28">
                <a:extLst>
                  <a:ext uri="{FF2B5EF4-FFF2-40B4-BE49-F238E27FC236}">
                    <a16:creationId xmlns:a16="http://schemas.microsoft.com/office/drawing/2014/main" id="{400B0035-45B6-1E54-731E-5E5426F336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9469249"/>
                  </p:ext>
                </p:extLst>
              </p:nvPr>
            </p:nvGraphicFramePr>
            <p:xfrm>
              <a:off x="10643788" y="1036427"/>
              <a:ext cx="1375778" cy="773876"/>
            </p:xfrm>
            <a:graphic>
              <a:graphicData uri="http://schemas.microsoft.com/office/powerpoint/2016/slidezoom">
                <pslz:sldZm>
                  <pslz:sldZmObj sldId="267" cId="1055929104">
                    <pslz:zmPr id="{C7291C9C-0C78-4CB5-A56C-17BC67184F2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5778" cy="7738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Slide Zoom 2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00B0035-45B6-1E54-731E-5E5426F336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3788" y="1036427"/>
                <a:ext cx="1375778" cy="7738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708566B-4EB7-D689-8425-C81A28E8DF39}"/>
              </a:ext>
            </a:extLst>
          </p:cNvPr>
          <p:cNvGrpSpPr/>
          <p:nvPr/>
        </p:nvGrpSpPr>
        <p:grpSpPr>
          <a:xfrm>
            <a:off x="6654139" y="4461179"/>
            <a:ext cx="4431798" cy="1471034"/>
            <a:chOff x="790078" y="2254767"/>
            <a:chExt cx="4431798" cy="1471034"/>
          </a:xfrm>
        </p:grpSpPr>
        <p:grpSp>
          <p:nvGrpSpPr>
            <p:cNvPr id="31" name="Group 13">
              <a:extLst>
                <a:ext uri="{FF2B5EF4-FFF2-40B4-BE49-F238E27FC236}">
                  <a16:creationId xmlns:a16="http://schemas.microsoft.com/office/drawing/2014/main" id="{9EF9F686-8719-0084-B0C8-888D76467AA8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492F7D43-8EB7-CF6C-10D9-377C39F0E093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15">
                <a:extLst>
                  <a:ext uri="{FF2B5EF4-FFF2-40B4-BE49-F238E27FC236}">
                    <a16:creationId xmlns:a16="http://schemas.microsoft.com/office/drawing/2014/main" id="{BA1F21EE-0B2C-7873-4DC1-FD3DAFD7AD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9839C9-FB5D-6779-6B97-DC2CC878DCF6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Where does this data come from?</a:t>
              </a:r>
            </a:p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Kaggle.com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AA30-D881-8817-AE1A-1ACE0ACE13FE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Where?</a:t>
              </a:r>
            </a:p>
          </p:txBody>
        </p:sp>
      </p:grpSp>
      <p:pic>
        <p:nvPicPr>
          <p:cNvPr id="40" name="Picture 3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0328F03-6790-421F-95AE-438DF4A91B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4" y="1036427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56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803792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BA4C7797-E987-CF73-91D0-3228CFAED2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3947213"/>
                  </p:ext>
                </p:extLst>
              </p:nvPr>
            </p:nvGraphicFramePr>
            <p:xfrm>
              <a:off x="722671" y="3738813"/>
              <a:ext cx="3048000" cy="1714500"/>
            </p:xfrm>
            <a:graphic>
              <a:graphicData uri="http://schemas.microsoft.com/office/powerpoint/2016/slidezoom">
                <pslz:sldZm>
                  <pslz:sldZmObj sldId="274" cId="1914445418">
                    <pslz:zmPr id="{1A6C7E59-065D-4455-BE12-83BE423D46A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A4C7797-E987-CF73-91D0-3228CFAED2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671" y="373881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28B0ED81-485E-0437-434E-EAC835F0F6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3042143"/>
                  </p:ext>
                </p:extLst>
              </p:nvPr>
            </p:nvGraphicFramePr>
            <p:xfrm>
              <a:off x="4572000" y="3738813"/>
              <a:ext cx="3048000" cy="1714500"/>
            </p:xfrm>
            <a:graphic>
              <a:graphicData uri="http://schemas.microsoft.com/office/powerpoint/2016/slidezoom">
                <pslz:sldZm>
                  <pslz:sldZmObj sldId="272" cId="3297785452">
                    <pslz:zmPr id="{B32D395E-850A-4493-9585-2A266DACEDCD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8B0ED81-485E-0437-434E-EAC835F0F6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2000" y="373881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2B7860FA-02A7-0345-70AE-E6DDD46E36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185819"/>
                  </p:ext>
                </p:extLst>
              </p:nvPr>
            </p:nvGraphicFramePr>
            <p:xfrm>
              <a:off x="8261946" y="3758866"/>
              <a:ext cx="3048000" cy="1714500"/>
            </p:xfrm>
            <a:graphic>
              <a:graphicData uri="http://schemas.microsoft.com/office/powerpoint/2016/slidezoom">
                <pslz:sldZm>
                  <pslz:sldZmObj sldId="273" cId="2118529379">
                    <pslz:zmPr id="{D5E34E09-6F46-461B-8B27-A74894BB2DB4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B7860FA-02A7-0345-70AE-E6DDD46E36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61946" y="375886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0CF97BB-169C-7241-8A29-E4F3BD850288}"/>
              </a:ext>
            </a:extLst>
          </p:cNvPr>
          <p:cNvSpPr txBox="1"/>
          <p:nvPr/>
        </p:nvSpPr>
        <p:spPr>
          <a:xfrm>
            <a:off x="4935927" y="2073375"/>
            <a:ext cx="2067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TABLEAU</a:t>
            </a:r>
          </a:p>
        </p:txBody>
      </p:sp>
      <p:pic>
        <p:nvPicPr>
          <p:cNvPr id="24" name="Picture 2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15CB9FF2-B52B-FBB6-734B-B9B71C0E77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29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41E6A-1FEE-F2C9-43A9-31FDCDC77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8" t="5400" r="8288" b="2878"/>
          <a:stretch/>
        </p:blipFill>
        <p:spPr>
          <a:xfrm>
            <a:off x="2196887" y="1930448"/>
            <a:ext cx="7381313" cy="4555737"/>
          </a:xfrm>
          <a:prstGeom prst="rect">
            <a:avLst/>
          </a:prstGeom>
        </p:spPr>
      </p:pic>
      <p:pic>
        <p:nvPicPr>
          <p:cNvPr id="3" name="Picture 2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93E1BA0-3279-08F4-F06E-76A24FF0E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45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CF79E8-EBBA-06B5-103D-FFC591F9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89" t="5400" r="8421" b="5400"/>
          <a:stretch/>
        </p:blipFill>
        <p:spPr>
          <a:xfrm>
            <a:off x="2127653" y="2051861"/>
            <a:ext cx="7684168" cy="4626830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ADF436F-BC9B-815E-FDCD-1C3BD70E8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85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F1292-2653-9CC0-6771-455C7DEC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17" t="5400" r="8552" b="5400"/>
          <a:stretch/>
        </p:blipFill>
        <p:spPr>
          <a:xfrm>
            <a:off x="2047442" y="1933701"/>
            <a:ext cx="7844590" cy="4761031"/>
          </a:xfrm>
          <a:prstGeom prst="rect">
            <a:avLst/>
          </a:prstGeom>
        </p:spPr>
      </p:pic>
      <p:pic>
        <p:nvPicPr>
          <p:cNvPr id="7" name="Picture 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D52BBEA7-445C-CE43-16BD-770D47B10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2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918276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7" name="Picture 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D52BBEA7-445C-CE43-16BD-770D47B10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F7EAB30-461F-61B7-4F05-7FD146B6E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333" y="2189291"/>
            <a:ext cx="8121333" cy="46761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CCDA2A-6A9D-D0FA-085C-24864C0FB4CA}"/>
              </a:ext>
            </a:extLst>
          </p:cNvPr>
          <p:cNvSpPr txBox="1"/>
          <p:nvPr/>
        </p:nvSpPr>
        <p:spPr>
          <a:xfrm>
            <a:off x="4905527" y="1542960"/>
            <a:ext cx="2128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48660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9A9D-30E0-8FF1-C244-1B0B59FA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6819A32-CC7D-A065-62E6-11332807FED5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CE17D50-9899-DC57-21B9-881A1DBA6E7E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6D38CD-8BDB-AC0B-6818-1A322C02CE69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1D15014-BAAE-121A-8969-340E544A0FCF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04BFD6D9-DB5B-33CB-E27B-61156D7DDB2A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264E02A-71F8-1ADE-9FB4-4BAB5DE8D63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10D4A1-9A2B-5DAA-4A31-AC642A9D1AEC}"/>
              </a:ext>
            </a:extLst>
          </p:cNvPr>
          <p:cNvSpPr txBox="1"/>
          <p:nvPr/>
        </p:nvSpPr>
        <p:spPr>
          <a:xfrm>
            <a:off x="3585343" y="1339982"/>
            <a:ext cx="4472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Expected Outcomes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8F58AB87-7A4F-9CD2-EA96-B55517F1F4B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1C128-DB53-6D83-24DB-322F9DBAF6CF}"/>
              </a:ext>
            </a:extLst>
          </p:cNvPr>
          <p:cNvGrpSpPr/>
          <p:nvPr/>
        </p:nvGrpSpPr>
        <p:grpSpPr>
          <a:xfrm>
            <a:off x="1036067" y="2386372"/>
            <a:ext cx="4431798" cy="1471034"/>
            <a:chOff x="790078" y="2254767"/>
            <a:chExt cx="4431798" cy="1471034"/>
          </a:xfrm>
        </p:grpSpPr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C8D7210D-7A87-7323-1B63-A2D6E47D1FDA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50C36CC3-6528-BB32-D137-DDF1EA44126E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EF75A0-480E-0936-8770-CA328D051D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6">
              <a:extLst>
                <a:ext uri="{FF2B5EF4-FFF2-40B4-BE49-F238E27FC236}">
                  <a16:creationId xmlns:a16="http://schemas.microsoft.com/office/drawing/2014/main" id="{5AEF7FDB-0A75-DBF7-E1F7-C3AB2D52F76D}"/>
                </a:ext>
              </a:extLst>
            </p:cNvPr>
            <p:cNvSpPr txBox="1"/>
            <p:nvPr/>
          </p:nvSpPr>
          <p:spPr>
            <a:xfrm>
              <a:off x="1323645" y="2806707"/>
              <a:ext cx="3470909" cy="555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A clean AI job dataset integrated with visualization tools.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5120197E-2475-04EE-5914-2F13AD2B19C0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endParaRPr lang="en-US" sz="1200" b="1" i="1" spc="-53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6BEFA3-420D-B685-5863-EE66F3F387DF}"/>
              </a:ext>
            </a:extLst>
          </p:cNvPr>
          <p:cNvGrpSpPr/>
          <p:nvPr/>
        </p:nvGrpSpPr>
        <p:grpSpPr>
          <a:xfrm>
            <a:off x="1036067" y="4323083"/>
            <a:ext cx="4431798" cy="1471034"/>
            <a:chOff x="790078" y="2254767"/>
            <a:chExt cx="4431798" cy="1471034"/>
          </a:xfrm>
        </p:grpSpPr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EAB84550-01B9-7DB0-7984-C213838FEE1D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C022B1BC-B2AA-9F2C-69A2-700006629996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11DF4CC5-91EC-9CA0-BE9A-6B6D132CD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5584EB-FACD-D597-5BEA-4F731DB22F01}"/>
                </a:ext>
              </a:extLst>
            </p:cNvPr>
            <p:cNvSpPr txBox="1"/>
            <p:nvPr/>
          </p:nvSpPr>
          <p:spPr>
            <a:xfrm>
              <a:off x="1141808" y="2728036"/>
              <a:ext cx="3470909" cy="8304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Establishment of brand identity guidelines and documentation templates. 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779397-F950-7ADF-9565-3EAB6F9F128C}"/>
              </a:ext>
            </a:extLst>
          </p:cNvPr>
          <p:cNvGrpSpPr/>
          <p:nvPr/>
        </p:nvGrpSpPr>
        <p:grpSpPr>
          <a:xfrm>
            <a:off x="6451764" y="2386372"/>
            <a:ext cx="4431798" cy="1471034"/>
            <a:chOff x="790078" y="2254767"/>
            <a:chExt cx="4431798" cy="1471034"/>
          </a:xfrm>
        </p:grpSpPr>
        <p:grpSp>
          <p:nvGrpSpPr>
            <p:cNvPr id="25" name="Group 13">
              <a:extLst>
                <a:ext uri="{FF2B5EF4-FFF2-40B4-BE49-F238E27FC236}">
                  <a16:creationId xmlns:a16="http://schemas.microsoft.com/office/drawing/2014/main" id="{744EE18D-EBE1-BA43-53F7-02CA4FDADA76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7" name="Freeform 14">
                <a:extLst>
                  <a:ext uri="{FF2B5EF4-FFF2-40B4-BE49-F238E27FC236}">
                    <a16:creationId xmlns:a16="http://schemas.microsoft.com/office/drawing/2014/main" id="{689A281F-F053-7A8A-C0CC-33D980BB71DE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5">
                <a:extLst>
                  <a:ext uri="{FF2B5EF4-FFF2-40B4-BE49-F238E27FC236}">
                    <a16:creationId xmlns:a16="http://schemas.microsoft.com/office/drawing/2014/main" id="{36D32BF3-9188-D447-FA28-8B52C2B72F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57B680-7269-31B7-557D-698C8341C860}"/>
                </a:ext>
              </a:extLst>
            </p:cNvPr>
            <p:cNvSpPr txBox="1"/>
            <p:nvPr/>
          </p:nvSpPr>
          <p:spPr>
            <a:xfrm>
              <a:off x="1270522" y="2722967"/>
              <a:ext cx="3470909" cy="555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Execution of insights campaigns with live metrics on AI trends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6BB340-4C52-B176-7E62-53F47A4D9356}"/>
              </a:ext>
            </a:extLst>
          </p:cNvPr>
          <p:cNvGrpSpPr/>
          <p:nvPr/>
        </p:nvGrpSpPr>
        <p:grpSpPr>
          <a:xfrm>
            <a:off x="6451764" y="4323083"/>
            <a:ext cx="4431798" cy="1471034"/>
            <a:chOff x="790078" y="2254767"/>
            <a:chExt cx="4431798" cy="1471034"/>
          </a:xfrm>
        </p:grpSpPr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A529074D-FC3B-A36D-6097-EF27C57D1B86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7581EEE1-13CD-DA61-3D08-81FFBBC4960C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F75FC207-D307-296B-BCE6-5C41349E2F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177CDD-59B1-AC6B-8E74-56B36973E5FF}"/>
                </a:ext>
              </a:extLst>
            </p:cNvPr>
            <p:cNvSpPr txBox="1"/>
            <p:nvPr/>
          </p:nvSpPr>
          <p:spPr>
            <a:xfrm>
              <a:off x="1270521" y="2761537"/>
              <a:ext cx="3470909" cy="5539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dirty="0"/>
                <a:t>Delivery of actionable AI insights with measurable impact</a:t>
              </a:r>
            </a:p>
          </p:txBody>
        </p:sp>
      </p:grpSp>
      <p:pic>
        <p:nvPicPr>
          <p:cNvPr id="35" name="Picture 3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CD0F62D3-0EAE-6635-F5FF-F9B3E0FC1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47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FAAA-ABCB-FE11-14A7-4E5D2AE6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7AD6320-911A-DA10-92D2-E515517E7965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4E3DB47-3630-2CD4-5938-92859D19224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988B1E-CBD1-5E2C-06F3-1402EFD68D08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08F4C777-044D-B510-1C94-441734A515D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30AA8383-1DA8-134B-E505-B42B2AD1F3F8}"/>
              </a:ext>
            </a:extLst>
          </p:cNvPr>
          <p:cNvGrpSpPr/>
          <p:nvPr/>
        </p:nvGrpSpPr>
        <p:grpSpPr>
          <a:xfrm>
            <a:off x="3243432" y="1219929"/>
            <a:ext cx="5447442" cy="3269558"/>
            <a:chOff x="0" y="0"/>
            <a:chExt cx="6350000" cy="3811270"/>
          </a:xfrm>
        </p:grpSpPr>
        <p:sp>
          <p:nvSpPr>
            <p:cNvPr id="3" name="Freeform 20">
              <a:extLst>
                <a:ext uri="{FF2B5EF4-FFF2-40B4-BE49-F238E27FC236}">
                  <a16:creationId xmlns:a16="http://schemas.microsoft.com/office/drawing/2014/main" id="{C1F51513-E653-6584-DCA9-132DE29AD502}"/>
                </a:ext>
              </a:extLst>
            </p:cNvPr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2"/>
              <a:stretch>
                <a:fillRect t="-5502" b="-55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CE734CD-7F70-A3D9-AA97-5FF9718E63CB}"/>
              </a:ext>
            </a:extLst>
          </p:cNvPr>
          <p:cNvGrpSpPr/>
          <p:nvPr/>
        </p:nvGrpSpPr>
        <p:grpSpPr>
          <a:xfrm rot="-5400000">
            <a:off x="5962387" y="2732778"/>
            <a:ext cx="302391" cy="4685897"/>
            <a:chOff x="-70418" y="-38100"/>
            <a:chExt cx="82961" cy="1554047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6ACDB33-EEB9-B349-167F-924358A6FD2C}"/>
                </a:ext>
              </a:extLst>
            </p:cNvPr>
            <p:cNvSpPr/>
            <p:nvPr/>
          </p:nvSpPr>
          <p:spPr>
            <a:xfrm>
              <a:off x="0" y="0"/>
              <a:ext cx="12543" cy="1515947"/>
            </a:xfrm>
            <a:custGeom>
              <a:avLst/>
              <a:gdLst/>
              <a:ahLst/>
              <a:cxnLst/>
              <a:rect l="l" t="t" r="r" b="b"/>
              <a:pathLst>
                <a:path w="12543" h="1515947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509675"/>
                  </a:lnTo>
                  <a:cubicBezTo>
                    <a:pt x="12543" y="1511338"/>
                    <a:pt x="11882" y="1512934"/>
                    <a:pt x="10706" y="1514110"/>
                  </a:cubicBezTo>
                  <a:cubicBezTo>
                    <a:pt x="9530" y="1515286"/>
                    <a:pt x="7935" y="1515947"/>
                    <a:pt x="6272" y="1515947"/>
                  </a:cubicBezTo>
                  <a:lnTo>
                    <a:pt x="6272" y="1515947"/>
                  </a:lnTo>
                  <a:cubicBezTo>
                    <a:pt x="4608" y="1515947"/>
                    <a:pt x="3013" y="1515286"/>
                    <a:pt x="1837" y="1514110"/>
                  </a:cubicBezTo>
                  <a:cubicBezTo>
                    <a:pt x="661" y="1512934"/>
                    <a:pt x="0" y="1511338"/>
                    <a:pt x="0" y="1509675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17A31C5-F98B-BB9A-076B-CF4D6B624284}"/>
                </a:ext>
              </a:extLst>
            </p:cNvPr>
            <p:cNvSpPr txBox="1"/>
            <p:nvPr/>
          </p:nvSpPr>
          <p:spPr>
            <a:xfrm>
              <a:off x="-70418" y="-38100"/>
              <a:ext cx="12543" cy="155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8" name="TextBox 29">
            <a:extLst>
              <a:ext uri="{FF2B5EF4-FFF2-40B4-BE49-F238E27FC236}">
                <a16:creationId xmlns:a16="http://schemas.microsoft.com/office/drawing/2014/main" id="{D5856990-B14E-7CF9-8510-354744BFD45B}"/>
              </a:ext>
            </a:extLst>
          </p:cNvPr>
          <p:cNvSpPr txBox="1"/>
          <p:nvPr/>
        </p:nvSpPr>
        <p:spPr>
          <a:xfrm>
            <a:off x="4642052" y="4644524"/>
            <a:ext cx="3759610" cy="1212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15"/>
              </a:lnSpc>
            </a:pPr>
            <a:r>
              <a:rPr lang="en-US" sz="6600" b="1" spc="-72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93362A5-AFCC-8F8D-1AF3-AC8AEFB4D7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26" name="Picture 2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258B4421-C83E-496B-BF0C-919F2F42B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grpSp>
        <p:nvGrpSpPr>
          <p:cNvPr id="27" name="Group 7">
            <a:extLst>
              <a:ext uri="{FF2B5EF4-FFF2-40B4-BE49-F238E27FC236}">
                <a16:creationId xmlns:a16="http://schemas.microsoft.com/office/drawing/2014/main" id="{5EE5D399-3641-C4C8-26CE-384D6F35ADE2}"/>
              </a:ext>
            </a:extLst>
          </p:cNvPr>
          <p:cNvGrpSpPr/>
          <p:nvPr/>
        </p:nvGrpSpPr>
        <p:grpSpPr>
          <a:xfrm rot="-5400000">
            <a:off x="6148164" y="3594131"/>
            <a:ext cx="45719" cy="4571015"/>
            <a:chOff x="0" y="0"/>
            <a:chExt cx="12543" cy="151594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858685F5-A9E8-F395-7F80-DCE51B72FE7E}"/>
                </a:ext>
              </a:extLst>
            </p:cNvPr>
            <p:cNvSpPr/>
            <p:nvPr/>
          </p:nvSpPr>
          <p:spPr>
            <a:xfrm>
              <a:off x="0" y="0"/>
              <a:ext cx="12543" cy="1515947"/>
            </a:xfrm>
            <a:custGeom>
              <a:avLst/>
              <a:gdLst/>
              <a:ahLst/>
              <a:cxnLst/>
              <a:rect l="l" t="t" r="r" b="b"/>
              <a:pathLst>
                <a:path w="12543" h="1515947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509675"/>
                  </a:lnTo>
                  <a:cubicBezTo>
                    <a:pt x="12543" y="1511338"/>
                    <a:pt x="11882" y="1512934"/>
                    <a:pt x="10706" y="1514110"/>
                  </a:cubicBezTo>
                  <a:cubicBezTo>
                    <a:pt x="9530" y="1515286"/>
                    <a:pt x="7935" y="1515947"/>
                    <a:pt x="6272" y="1515947"/>
                  </a:cubicBezTo>
                  <a:lnTo>
                    <a:pt x="6272" y="1515947"/>
                  </a:lnTo>
                  <a:cubicBezTo>
                    <a:pt x="4608" y="1515947"/>
                    <a:pt x="3013" y="1515286"/>
                    <a:pt x="1837" y="1514110"/>
                  </a:cubicBezTo>
                  <a:cubicBezTo>
                    <a:pt x="661" y="1512934"/>
                    <a:pt x="0" y="1511338"/>
                    <a:pt x="0" y="1509675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9">
              <a:extLst>
                <a:ext uri="{FF2B5EF4-FFF2-40B4-BE49-F238E27FC236}">
                  <a16:creationId xmlns:a16="http://schemas.microsoft.com/office/drawing/2014/main" id="{6F4D1BEE-3B39-A540-615C-63E358AAB813}"/>
                </a:ext>
              </a:extLst>
            </p:cNvPr>
            <p:cNvSpPr txBox="1"/>
            <p:nvPr/>
          </p:nvSpPr>
          <p:spPr>
            <a:xfrm>
              <a:off x="0" y="-38100"/>
              <a:ext cx="12543" cy="155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793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465</Words>
  <Application>Microsoft Office PowerPoint</Application>
  <PresentationFormat>Widescreen</PresentationFormat>
  <Paragraphs>103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Helvetica World</vt:lpstr>
      <vt:lpstr>Helvetica World Bold</vt:lpstr>
      <vt:lpstr>Helvetica World Bold Italics</vt:lpstr>
      <vt:lpstr>Telegraf</vt:lpstr>
      <vt:lpstr>Telegraf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Ayman Mansory</dc:creator>
  <cp:lastModifiedBy>reham ayman</cp:lastModifiedBy>
  <cp:revision>16</cp:revision>
  <dcterms:created xsi:type="dcterms:W3CDTF">2025-11-13T21:09:45Z</dcterms:created>
  <dcterms:modified xsi:type="dcterms:W3CDTF">2025-11-14T16:50:16Z</dcterms:modified>
</cp:coreProperties>
</file>